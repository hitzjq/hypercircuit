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3.xml"/><Relationship Id="rId7" Type="http://schemas.openxmlformats.org/officeDocument/2006/relationships/image" Target="../media/image5.svg"/><Relationship Id="rId6" Type="http://schemas.openxmlformats.org/officeDocument/2006/relationships/image" Target="../media/image4.png"/><Relationship Id="rId5" Type="http://schemas.openxmlformats.org/officeDocument/2006/relationships/tags" Target="../tags/tag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7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7105"/>
            <a:ext cx="12192000" cy="4923155"/>
          </a:xfrm>
          <a:prstGeom prst="rect">
            <a:avLst/>
          </a:prstGeom>
        </p:spPr>
      </p:pic>
      <p:pic>
        <p:nvPicPr>
          <p:cNvPr id="5" name="图片 4" descr="1078747773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390" y="454025"/>
            <a:ext cx="668655" cy="668655"/>
          </a:xfrm>
          <a:prstGeom prst="rect">
            <a:avLst/>
          </a:prstGeom>
        </p:spPr>
      </p:pic>
      <p:pic>
        <p:nvPicPr>
          <p:cNvPr id="7" name="图片 6" descr="107874777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75735" y="454025"/>
            <a:ext cx="668655" cy="668655"/>
          </a:xfrm>
          <a:prstGeom prst="rect">
            <a:avLst/>
          </a:prstGeom>
        </p:spPr>
      </p:pic>
      <p:pic>
        <p:nvPicPr>
          <p:cNvPr id="8" name="图片 7" descr="1078748050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68515" y="454025"/>
            <a:ext cx="668655" cy="668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92885"/>
            <a:ext cx="12192000" cy="38715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252220" y="405765"/>
            <a:ext cx="4424045" cy="25742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16660" y="4126230"/>
            <a:ext cx="4458970" cy="24599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88175" y="4126230"/>
            <a:ext cx="4518660" cy="24599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712085" y="495935"/>
            <a:ext cx="225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H200 </a:t>
            </a:r>
            <a:r>
              <a:rPr lang="zh-CN" altLang="en-US" b="1">
                <a:solidFill>
                  <a:schemeClr val="bg1"/>
                </a:solidFill>
              </a:rPr>
              <a:t>集群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447405" y="4344035"/>
            <a:ext cx="1600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调试用的</a:t>
            </a:r>
            <a:r>
              <a:rPr lang="zh-CN" altLang="en-US" b="1">
                <a:solidFill>
                  <a:schemeClr val="bg1"/>
                </a:solidFill>
              </a:rPr>
              <a:t>显卡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38475" y="4344035"/>
            <a:ext cx="852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本地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70250" y="1040765"/>
            <a:ext cx="2027555" cy="1783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270250" y="4843780"/>
            <a:ext cx="2087245" cy="15570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7255510" y="4938395"/>
            <a:ext cx="2172970" cy="1358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675" y="4938395"/>
            <a:ext cx="1281430" cy="12369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1439545"/>
            <a:ext cx="1281430" cy="11582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930" y="5017135"/>
            <a:ext cx="1281430" cy="11582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507105" y="5180965"/>
            <a:ext cx="15335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1.</a:t>
            </a:r>
            <a:r>
              <a:rPr lang="zh-CN" altLang="en-US" sz="1400"/>
              <a:t>做好数据集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修改各种</a:t>
            </a:r>
            <a:r>
              <a:rPr lang="zh-CN" altLang="en-US" sz="1400"/>
              <a:t>代码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17" name="文本框 16"/>
          <p:cNvSpPr txBox="1"/>
          <p:nvPr/>
        </p:nvSpPr>
        <p:spPr>
          <a:xfrm>
            <a:off x="3400425" y="1094740"/>
            <a:ext cx="177609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2. </a:t>
            </a:r>
            <a:r>
              <a:rPr lang="zh-CN" altLang="en-US" sz="1200"/>
              <a:t>训练好</a:t>
            </a:r>
            <a:r>
              <a:rPr lang="en-US" altLang="zh-CN" sz="1200"/>
              <a:t>TRM</a:t>
            </a:r>
            <a:r>
              <a:rPr lang="zh-CN" altLang="en-US" sz="1200"/>
              <a:t>作为</a:t>
            </a:r>
            <a:r>
              <a:rPr lang="en-US" altLang="zh-CN" sz="1200"/>
              <a:t>base model</a:t>
            </a:r>
            <a:r>
              <a:rPr lang="zh-CN" altLang="en-US" sz="1200"/>
              <a:t>，传到调试端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4. </a:t>
            </a:r>
            <a:r>
              <a:rPr lang="zh-CN" altLang="en-US" sz="1200"/>
              <a:t>根据代码跑完</a:t>
            </a:r>
            <a:r>
              <a:rPr lang="en-US" altLang="zh-CN" sz="1200"/>
              <a:t>lora</a:t>
            </a:r>
            <a:r>
              <a:rPr lang="zh-CN" altLang="en-US" sz="1200"/>
              <a:t>微调，确认有效返回</a:t>
            </a:r>
            <a:r>
              <a:rPr lang="en-US" altLang="zh-CN" sz="1200"/>
              <a:t>log</a:t>
            </a:r>
            <a:endParaRPr lang="en-US" altLang="zh-CN" sz="1200"/>
          </a:p>
          <a:p>
            <a:endParaRPr lang="en-US" altLang="zh-CN" sz="1200"/>
          </a:p>
          <a:p>
            <a:r>
              <a:rPr lang="en-US" altLang="zh-CN" sz="1200"/>
              <a:t>6.</a:t>
            </a:r>
            <a:r>
              <a:rPr lang="zh-CN" altLang="en-US" sz="1200"/>
              <a:t>跑完</a:t>
            </a:r>
            <a:r>
              <a:rPr lang="en-US" altLang="zh-CN" sz="1200"/>
              <a:t>hyperet</a:t>
            </a:r>
            <a:r>
              <a:rPr lang="zh-CN" altLang="en-US" sz="1200"/>
              <a:t>训练，返回</a:t>
            </a:r>
            <a:r>
              <a:rPr lang="en-US" altLang="zh-CN" sz="1200"/>
              <a:t>log</a:t>
            </a:r>
            <a:endParaRPr lang="en-US" altLang="zh-CN" sz="1200"/>
          </a:p>
        </p:txBody>
      </p:sp>
      <p:sp>
        <p:nvSpPr>
          <p:cNvPr id="18" name="文本框 17"/>
          <p:cNvSpPr txBox="1"/>
          <p:nvPr/>
        </p:nvSpPr>
        <p:spPr>
          <a:xfrm>
            <a:off x="7470775" y="5035550"/>
            <a:ext cx="18186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3. </a:t>
            </a:r>
            <a:r>
              <a:rPr lang="zh-CN" altLang="en-US" sz="1400"/>
              <a:t>根据代码对</a:t>
            </a:r>
            <a:r>
              <a:rPr lang="en-US" altLang="zh-CN" sz="1400"/>
              <a:t>base model</a:t>
            </a:r>
            <a:r>
              <a:rPr lang="zh-CN" altLang="en-US" sz="1400"/>
              <a:t>进行</a:t>
            </a:r>
            <a:r>
              <a:rPr lang="en-US" altLang="zh-CN" sz="1400"/>
              <a:t>lora</a:t>
            </a:r>
            <a:r>
              <a:rPr lang="zh-CN" altLang="en-US" sz="1400"/>
              <a:t>微调，直到</a:t>
            </a:r>
            <a:r>
              <a:rPr lang="en-US" altLang="zh-CN" sz="1400"/>
              <a:t>loss</a:t>
            </a:r>
            <a:r>
              <a:rPr lang="zh-CN" altLang="en-US" sz="1400"/>
              <a:t>下降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/>
              <a:t>5. </a:t>
            </a:r>
            <a:r>
              <a:rPr lang="zh-CN" altLang="en-US" sz="1400"/>
              <a:t>调试使用</a:t>
            </a:r>
            <a:r>
              <a:rPr lang="en-US" altLang="zh-CN" sz="1400"/>
              <a:t>hypernet</a:t>
            </a:r>
            <a:endParaRPr lang="en-US" altLang="zh-CN" sz="1400"/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3419475" y="3081020"/>
            <a:ext cx="0" cy="87630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872105" y="3089910"/>
            <a:ext cx="428625" cy="9264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 altLang="zh-CN" sz="1600"/>
              <a:t>1.</a:t>
            </a:r>
            <a:r>
              <a:rPr lang="zh-CN" altLang="en-US" sz="1600"/>
              <a:t>数据集</a:t>
            </a:r>
            <a:endParaRPr lang="zh-CN" altLang="en-US" sz="160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5705475" y="1537970"/>
            <a:ext cx="3629025" cy="24288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 rot="1920000">
            <a:off x="6753225" y="2183130"/>
            <a:ext cx="15335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2. </a:t>
            </a:r>
            <a:r>
              <a:rPr lang="zh-CN" altLang="en-US" sz="1600"/>
              <a:t>传输</a:t>
            </a:r>
            <a:r>
              <a:rPr lang="en-US" altLang="zh-CN" sz="1600"/>
              <a:t>ckpt</a:t>
            </a:r>
            <a:endParaRPr lang="en-US" altLang="zh-CN" sz="1600"/>
          </a:p>
        </p:txBody>
      </p:sp>
      <p:cxnSp>
        <p:nvCxnSpPr>
          <p:cNvPr id="25" name="直接箭头连接符 24"/>
          <p:cNvCxnSpPr/>
          <p:nvPr/>
        </p:nvCxnSpPr>
        <p:spPr>
          <a:xfrm>
            <a:off x="3957320" y="3138170"/>
            <a:ext cx="9525" cy="7905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074160" y="3089910"/>
            <a:ext cx="428625" cy="9264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 altLang="zh-CN" sz="1600"/>
              <a:t>4&amp;6. log</a:t>
            </a:r>
            <a:endParaRPr lang="en-US" altLang="zh-CN" sz="1600"/>
          </a:p>
        </p:txBody>
      </p:sp>
      <p:cxnSp>
        <p:nvCxnSpPr>
          <p:cNvPr id="29" name="直接箭头连接符 28"/>
          <p:cNvCxnSpPr>
            <a:stCxn id="5" idx="3"/>
            <a:endCxn id="6" idx="1"/>
          </p:cNvCxnSpPr>
          <p:nvPr/>
        </p:nvCxnSpPr>
        <p:spPr>
          <a:xfrm>
            <a:off x="5675630" y="5356225"/>
            <a:ext cx="131254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4686300" y="2985770"/>
            <a:ext cx="0" cy="11334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000750" y="4966970"/>
            <a:ext cx="838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code</a:t>
            </a:r>
            <a:endParaRPr lang="en-US" altLang="zh-CN"/>
          </a:p>
        </p:txBody>
      </p:sp>
      <p:sp>
        <p:nvSpPr>
          <p:cNvPr id="32" name="文本框 31"/>
          <p:cNvSpPr txBox="1"/>
          <p:nvPr/>
        </p:nvSpPr>
        <p:spPr>
          <a:xfrm rot="5400000">
            <a:off x="4584700" y="3413125"/>
            <a:ext cx="838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code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/>
        </p:nvSpPr>
        <p:spPr>
          <a:xfrm>
            <a:off x="1252220" y="405765"/>
            <a:ext cx="4424045" cy="25742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1216660" y="4126230"/>
            <a:ext cx="4458970" cy="24599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988175" y="4126230"/>
            <a:ext cx="4518660" cy="245999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2712085" y="495935"/>
            <a:ext cx="2252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H200 </a:t>
            </a:r>
            <a:r>
              <a:rPr lang="zh-CN" altLang="en-US" b="1">
                <a:solidFill>
                  <a:schemeClr val="bg1"/>
                </a:solidFill>
              </a:rPr>
              <a:t>集群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447405" y="4344035"/>
            <a:ext cx="1600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调试用的</a:t>
            </a:r>
            <a:r>
              <a:rPr lang="zh-CN" altLang="en-US" b="1">
                <a:solidFill>
                  <a:schemeClr val="bg1"/>
                </a:solidFill>
              </a:rPr>
              <a:t>显卡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038475" y="4344035"/>
            <a:ext cx="852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本地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270250" y="1040765"/>
            <a:ext cx="2027555" cy="17837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3270250" y="4843780"/>
            <a:ext cx="2087245" cy="15570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7255510" y="4938395"/>
            <a:ext cx="2172970" cy="13589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0675" y="4938395"/>
            <a:ext cx="1281430" cy="123698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1439545"/>
            <a:ext cx="1281430" cy="115824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930" y="5017135"/>
            <a:ext cx="1281430" cy="1158240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3659505" y="5180965"/>
            <a:ext cx="15335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400"/>
          </a:p>
          <a:p>
            <a:r>
              <a:rPr lang="zh-CN" altLang="en-US" sz="1400"/>
              <a:t>修改各种</a:t>
            </a:r>
            <a:r>
              <a:rPr lang="zh-CN" altLang="en-US" sz="1400"/>
              <a:t>代码</a:t>
            </a:r>
            <a:endParaRPr lang="zh-CN" altLang="en-US" sz="1400"/>
          </a:p>
          <a:p>
            <a:endParaRPr lang="zh-CN" altLang="en-US" sz="1400"/>
          </a:p>
        </p:txBody>
      </p:sp>
      <p:sp>
        <p:nvSpPr>
          <p:cNvPr id="39" name="文本框 38"/>
          <p:cNvSpPr txBox="1"/>
          <p:nvPr/>
        </p:nvSpPr>
        <p:spPr>
          <a:xfrm>
            <a:off x="3400425" y="1094740"/>
            <a:ext cx="177609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1. </a:t>
            </a:r>
            <a:r>
              <a:rPr lang="zh-CN" altLang="en-US" sz="1400"/>
              <a:t>根据</a:t>
            </a:r>
            <a:r>
              <a:rPr lang="en-US" altLang="zh-CN" sz="1400"/>
              <a:t>base model</a:t>
            </a:r>
            <a:r>
              <a:rPr lang="zh-CN" altLang="en-US" sz="1400"/>
              <a:t>和数据集一起提取</a:t>
            </a:r>
            <a:r>
              <a:rPr lang="en-US" altLang="zh-CN" sz="1400"/>
              <a:t>circuit</a:t>
            </a:r>
            <a:endParaRPr lang="zh-CN" altLang="en-US" sz="1400"/>
          </a:p>
          <a:p>
            <a:endParaRPr lang="zh-CN" altLang="en-US" sz="1400"/>
          </a:p>
          <a:p>
            <a:r>
              <a:rPr lang="en-US" altLang="zh-CN" sz="1400"/>
              <a:t>3. </a:t>
            </a:r>
            <a:r>
              <a:rPr lang="zh-CN" altLang="en-US" sz="1400"/>
              <a:t>跑完使用</a:t>
            </a:r>
            <a:r>
              <a:rPr lang="en-US" altLang="zh-CN" sz="1400"/>
              <a:t>hypernet</a:t>
            </a:r>
            <a:r>
              <a:rPr lang="zh-CN" altLang="en-US" sz="1400"/>
              <a:t>根据</a:t>
            </a:r>
            <a:r>
              <a:rPr lang="en-US" altLang="zh-CN" sz="1400"/>
              <a:t>circuit</a:t>
            </a:r>
            <a:r>
              <a:rPr lang="zh-CN" altLang="en-US" sz="1400"/>
              <a:t>生成</a:t>
            </a:r>
            <a:r>
              <a:rPr lang="en-US" altLang="zh-CN" sz="1400"/>
              <a:t>LoRA</a:t>
            </a:r>
            <a:r>
              <a:rPr lang="zh-CN" altLang="en-US" sz="1400"/>
              <a:t>，返回</a:t>
            </a:r>
            <a:r>
              <a:rPr lang="en-US" altLang="zh-CN" sz="1400"/>
              <a:t>log</a:t>
            </a:r>
            <a:endParaRPr lang="en-US" altLang="zh-CN" sz="1400"/>
          </a:p>
        </p:txBody>
      </p:sp>
      <p:sp>
        <p:nvSpPr>
          <p:cNvPr id="40" name="文本框 39"/>
          <p:cNvSpPr txBox="1"/>
          <p:nvPr/>
        </p:nvSpPr>
        <p:spPr>
          <a:xfrm>
            <a:off x="7470775" y="5288280"/>
            <a:ext cx="18186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2. </a:t>
            </a:r>
            <a:r>
              <a:rPr lang="zh-CN" altLang="en-US" sz="1400"/>
              <a:t>调试使用</a:t>
            </a:r>
            <a:r>
              <a:rPr lang="en-US" altLang="zh-CN" sz="1400"/>
              <a:t>hypernet</a:t>
            </a:r>
            <a:r>
              <a:rPr lang="zh-CN" altLang="en-US" sz="1400"/>
              <a:t>根据</a:t>
            </a:r>
            <a:r>
              <a:rPr lang="en-US" altLang="zh-CN" sz="1400"/>
              <a:t>circuit</a:t>
            </a:r>
            <a:r>
              <a:rPr lang="zh-CN" altLang="en-US" sz="1400"/>
              <a:t>生成</a:t>
            </a:r>
            <a:r>
              <a:rPr lang="en-US" altLang="zh-CN" sz="1400"/>
              <a:t>lora</a:t>
            </a:r>
            <a:endParaRPr lang="en-US" altLang="zh-CN" sz="1400"/>
          </a:p>
        </p:txBody>
      </p:sp>
      <p:cxnSp>
        <p:nvCxnSpPr>
          <p:cNvPr id="43" name="直接箭头连接符 42"/>
          <p:cNvCxnSpPr/>
          <p:nvPr/>
        </p:nvCxnSpPr>
        <p:spPr>
          <a:xfrm>
            <a:off x="5705475" y="1537970"/>
            <a:ext cx="3629025" cy="24288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 rot="1920000">
            <a:off x="6753225" y="2183130"/>
            <a:ext cx="15335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1. circuit</a:t>
            </a:r>
            <a:r>
              <a:rPr lang="zh-CN" altLang="en-US" sz="1600"/>
              <a:t>文件</a:t>
            </a:r>
            <a:endParaRPr lang="zh-CN" altLang="en-US" sz="160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3957320" y="3138170"/>
            <a:ext cx="9525" cy="7905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4074160" y="3089910"/>
            <a:ext cx="428625" cy="92646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 altLang="zh-CN" sz="1600"/>
              <a:t>3. log</a:t>
            </a:r>
            <a:endParaRPr lang="en-US" altLang="zh-CN" sz="1600"/>
          </a:p>
        </p:txBody>
      </p:sp>
      <p:cxnSp>
        <p:nvCxnSpPr>
          <p:cNvPr id="47" name="直接箭头连接符 46"/>
          <p:cNvCxnSpPr>
            <a:stCxn id="27" idx="3"/>
            <a:endCxn id="28" idx="1"/>
          </p:cNvCxnSpPr>
          <p:nvPr/>
        </p:nvCxnSpPr>
        <p:spPr>
          <a:xfrm>
            <a:off x="5675630" y="5356225"/>
            <a:ext cx="1312545" cy="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4686300" y="2985770"/>
            <a:ext cx="0" cy="11334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headEnd type="arrow" w="med" len="med"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6000750" y="4966970"/>
            <a:ext cx="838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code</a:t>
            </a:r>
            <a:endParaRPr lang="en-US" altLang="zh-CN"/>
          </a:p>
        </p:txBody>
      </p:sp>
      <p:sp>
        <p:nvSpPr>
          <p:cNvPr id="50" name="文本框 49"/>
          <p:cNvSpPr txBox="1"/>
          <p:nvPr/>
        </p:nvSpPr>
        <p:spPr>
          <a:xfrm rot="5400000">
            <a:off x="4584700" y="3413125"/>
            <a:ext cx="838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code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673712345&quot;}"/>
</p:tagLst>
</file>

<file path=ppt/tags/tag2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673712345&quot;}"/>
</p:tagLst>
</file>

<file path=ppt/tags/tag3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673712345&quot;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</Words>
  <Application>WPS 演示</Application>
  <PresentationFormat>宽屏</PresentationFormat>
  <Paragraphs>54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zjt</cp:lastModifiedBy>
  <cp:revision>7</cp:revision>
  <dcterms:created xsi:type="dcterms:W3CDTF">2023-08-09T12:44:00Z</dcterms:created>
  <dcterms:modified xsi:type="dcterms:W3CDTF">2026-03-10T04:45:15Z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F3545A953CB14F35A9899739B25A04E1_12</vt:lpwstr>
  </property>
</Properties>
</file>